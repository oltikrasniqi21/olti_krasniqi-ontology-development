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Urbanist Medium"/>
      <p:regular r:id="rId10"/>
      <p:bold r:id="rId11"/>
      <p:italic r:id="rId12"/>
      <p:boldItalic r:id="rId13"/>
    </p:embeddedFont>
    <p:embeddedFont>
      <p:font typeface="Urbanist SemiBold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21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UrbanistMedium-bold.fntdata"/><Relationship Id="rId10" Type="http://schemas.openxmlformats.org/officeDocument/2006/relationships/font" Target="fonts/UrbanistMedium-regular.fntdata"/><Relationship Id="rId13" Type="http://schemas.openxmlformats.org/officeDocument/2006/relationships/font" Target="fonts/UrbanistMedium-boldItalic.fntdata"/><Relationship Id="rId12" Type="http://schemas.openxmlformats.org/officeDocument/2006/relationships/font" Target="fonts/UrbanistMedium-italic.fntdata"/><Relationship Id="rId15" Type="http://schemas.openxmlformats.org/officeDocument/2006/relationships/font" Target="fonts/UrbanistSemiBold-bold.fntdata"/><Relationship Id="rId14" Type="http://schemas.openxmlformats.org/officeDocument/2006/relationships/font" Target="fonts/UrbanistSemiBold-regular.fntdata"/><Relationship Id="rId17" Type="http://schemas.openxmlformats.org/officeDocument/2006/relationships/font" Target="fonts/UrbanistSemiBold-boldItalic.fntdata"/><Relationship Id="rId16" Type="http://schemas.openxmlformats.org/officeDocument/2006/relationships/font" Target="fonts/UrbanistSemiBold-italic.fntdata"/><Relationship Id="rId19" Type="http://schemas.openxmlformats.org/officeDocument/2006/relationships/font" Target="fonts/Urbanist-bold.fntdata"/><Relationship Id="rId1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68181129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68181129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681811297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f68181129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681811297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681811297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228600" y="228600"/>
            <a:ext cx="69612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Ontology Development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Week 3 - Tasks summary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3" name="Google Shape;483;p53"/>
          <p:cNvSpPr txBox="1"/>
          <p:nvPr>
            <p:ph idx="1" type="subTitle"/>
          </p:nvPr>
        </p:nvSpPr>
        <p:spPr>
          <a:xfrm>
            <a:off x="222300" y="167550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Infineon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84" name="Google Shape;484;p53"/>
          <p:cNvSpPr txBox="1"/>
          <p:nvPr>
            <p:ph idx="7" type="subTitle"/>
          </p:nvPr>
        </p:nvSpPr>
        <p:spPr>
          <a:xfrm>
            <a:off x="222291" y="432672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by: Olti Krasniqi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"/>
          <p:cNvSpPr txBox="1"/>
          <p:nvPr>
            <p:ph idx="13" type="body"/>
          </p:nvPr>
        </p:nvSpPr>
        <p:spPr>
          <a:xfrm>
            <a:off x="3428650" y="782400"/>
            <a:ext cx="2727000" cy="390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Strengthening European semiconductor capability 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UPaaS (Unit-Process-as-a-Service) enables distributed manufacturing capabilities to be connected across different organizations.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Individual semiconductor fabrication processes are provided as services rather than requiring a single company to own the complete production line. 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Advantages: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Char char="●"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better utilization of expensive tools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Char char="●"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collaboration between European fabs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Char char="●"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easier prototyping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Char char="●"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distributed semiconductor ecosystem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90" name="Google Shape;490;p54"/>
          <p:cNvSpPr txBox="1"/>
          <p:nvPr>
            <p:ph idx="8" type="body"/>
          </p:nvPr>
        </p:nvSpPr>
        <p:spPr>
          <a:xfrm>
            <a:off x="409000" y="782400"/>
            <a:ext cx="2602200" cy="30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Europe’s strategic dependencies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Europe is strong in: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Semiconductor equipment (e.g. ASML)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Automotive chips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Research institutes (Fraunhofer, IMEC, CEA-Leti)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Europe has weaknesses: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Limited leading-edge logic manufacturing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Very little memory manufacturing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Heavy dependence on Asian suppliers for DRAM and NAND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Supply-chain vulnerabilities exposed during the chip shortage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54"/>
          <p:cNvCxnSpPr/>
          <p:nvPr/>
        </p:nvCxnSpPr>
        <p:spPr>
          <a:xfrm>
            <a:off x="3035875" y="1455400"/>
            <a:ext cx="0" cy="292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54"/>
          <p:cNvCxnSpPr/>
          <p:nvPr/>
        </p:nvCxnSpPr>
        <p:spPr>
          <a:xfrm>
            <a:off x="186600" y="689475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54"/>
          <p:cNvCxnSpPr/>
          <p:nvPr/>
        </p:nvCxnSpPr>
        <p:spPr>
          <a:xfrm>
            <a:off x="6155650" y="1487800"/>
            <a:ext cx="9300" cy="2858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54"/>
          <p:cNvSpPr txBox="1"/>
          <p:nvPr>
            <p:ph type="title"/>
          </p:nvPr>
        </p:nvSpPr>
        <p:spPr>
          <a:xfrm>
            <a:off x="228600" y="228600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Findings from the research</a:t>
            </a:r>
            <a:endParaRPr/>
          </a:p>
        </p:txBody>
      </p:sp>
      <p:sp>
        <p:nvSpPr>
          <p:cNvPr id="495" name="Google Shape;495;p54"/>
          <p:cNvSpPr txBox="1"/>
          <p:nvPr>
            <p:ph idx="5" type="subTitle"/>
          </p:nvPr>
        </p:nvSpPr>
        <p:spPr>
          <a:xfrm>
            <a:off x="133925" y="6348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96" name="Google Shape;496;p54"/>
          <p:cNvSpPr txBox="1"/>
          <p:nvPr>
            <p:ph idx="6" type="subTitle"/>
          </p:nvPr>
        </p:nvSpPr>
        <p:spPr>
          <a:xfrm>
            <a:off x="3060550" y="6348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97" name="Google Shape;497;p54"/>
          <p:cNvSpPr txBox="1"/>
          <p:nvPr>
            <p:ph idx="7" type="subTitle"/>
          </p:nvPr>
        </p:nvSpPr>
        <p:spPr>
          <a:xfrm>
            <a:off x="6155638" y="6348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98" name="Google Shape;498;p54"/>
          <p:cNvSpPr txBox="1"/>
          <p:nvPr>
            <p:ph idx="9" type="body"/>
          </p:nvPr>
        </p:nvSpPr>
        <p:spPr>
          <a:xfrm>
            <a:off x="6482175" y="782400"/>
            <a:ext cx="2602200" cy="390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Ferroelectric Memory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Ferroelectric HfO₂ memory is an excellent example of where UPaaS can provide value. Manufacturing these devices requires several highly specialized unit processes.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Few organizations possess expertise in every step.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Ferroelectricity has opened the way to create a non-volatile, low power consuming memory device.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Europe, ferroelectric memory is important because: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Increasing semiconductor independence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Less dependence on external memory supply chains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4"/>
          <p:cNvSpPr txBox="1"/>
          <p:nvPr/>
        </p:nvSpPr>
        <p:spPr>
          <a:xfrm>
            <a:off x="316775" y="4663975"/>
            <a:ext cx="4027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CORDIS. (2024, January 17). Manufacturing as a service for the EU’s Twin Transition until 2040 (MASTT2040): Horizon: Cordis: European Commission. https://cordis.europa.eu/project/id/101138342/reporting?utm_source=chatgpt.com</a:t>
            </a:r>
            <a:endParaRPr sz="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54"/>
          <p:cNvSpPr txBox="1"/>
          <p:nvPr/>
        </p:nvSpPr>
        <p:spPr>
          <a:xfrm>
            <a:off x="4752575" y="4709225"/>
            <a:ext cx="4027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Liu et al., "Recent Progress and Applications of HfO₂-Based Ferroelectric Memory", Tsinghua Science and Technology, 2021.</a:t>
            </a:r>
            <a:endParaRPr sz="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5" name="Google Shape;505;p55"/>
          <p:cNvCxnSpPr/>
          <p:nvPr/>
        </p:nvCxnSpPr>
        <p:spPr>
          <a:xfrm>
            <a:off x="234475" y="2205188"/>
            <a:ext cx="7636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06" name="Google Shape;506;p55"/>
          <p:cNvSpPr/>
          <p:nvPr/>
        </p:nvSpPr>
        <p:spPr>
          <a:xfrm>
            <a:off x="228600" y="1895390"/>
            <a:ext cx="602700" cy="6027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07" name="Google Shape;507;p55"/>
          <p:cNvSpPr/>
          <p:nvPr/>
        </p:nvSpPr>
        <p:spPr>
          <a:xfrm>
            <a:off x="2034363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08" name="Google Shape;508;p55"/>
          <p:cNvSpPr/>
          <p:nvPr/>
        </p:nvSpPr>
        <p:spPr>
          <a:xfrm>
            <a:off x="3829950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09" name="Google Shape;509;p55"/>
          <p:cNvSpPr/>
          <p:nvPr/>
        </p:nvSpPr>
        <p:spPr>
          <a:xfrm>
            <a:off x="5645375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10" name="Google Shape;510;p55"/>
          <p:cNvSpPr/>
          <p:nvPr/>
        </p:nvSpPr>
        <p:spPr>
          <a:xfrm>
            <a:off x="7460789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11" name="Google Shape;511;p55"/>
          <p:cNvSpPr txBox="1"/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 Tasks Summary</a:t>
            </a:r>
            <a:endParaRPr/>
          </a:p>
        </p:txBody>
      </p:sp>
      <p:sp>
        <p:nvSpPr>
          <p:cNvPr id="512" name="Google Shape;512;p55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for ferroelectric memory</a:t>
            </a:r>
            <a:endParaRPr/>
          </a:p>
        </p:txBody>
      </p:sp>
      <p:sp>
        <p:nvSpPr>
          <p:cNvPr id="513" name="Google Shape;513;p55"/>
          <p:cNvSpPr txBox="1"/>
          <p:nvPr>
            <p:ph idx="18" type="subTitle"/>
          </p:nvPr>
        </p:nvSpPr>
        <p:spPr>
          <a:xfrm>
            <a:off x="2034375" y="2667925"/>
            <a:ext cx="15984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 and verification of 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5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15" name="Google Shape;515;p55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16" name="Google Shape;516;p55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17" name="Google Shape;517;p55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18" name="Google Shape;518;p55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19" name="Google Shape;519;p55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20" name="Google Shape;520;p55"/>
          <p:cNvSpPr txBox="1"/>
          <p:nvPr>
            <p:ph idx="3" type="subTitle"/>
          </p:nvPr>
        </p:nvSpPr>
        <p:spPr>
          <a:xfrm>
            <a:off x="3829950" y="2667925"/>
            <a:ext cx="14580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Created drOWLing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5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Protege Ontology from the assigned dataset from Week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5"/>
          <p:cNvSpPr txBox="1"/>
          <p:nvPr>
            <p:ph idx="20" type="subTitle"/>
          </p:nvPr>
        </p:nvSpPr>
        <p:spPr>
          <a:xfrm>
            <a:off x="7342601" y="2667925"/>
            <a:ext cx="14580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 the work in a concise 2-3 slides 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5"/>
          <p:cNvSpPr txBox="1"/>
          <p:nvPr>
            <p:ph idx="4" type="body"/>
          </p:nvPr>
        </p:nvSpPr>
        <p:spPr>
          <a:xfrm>
            <a:off x="3848250" y="2952175"/>
            <a:ext cx="1598400" cy="12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Based on the research tried to create a production flow ontology for the ferroelectric memory. The process is closely similar to CMOS production flow.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5"/>
          <p:cNvSpPr txBox="1"/>
          <p:nvPr/>
        </p:nvSpPr>
        <p:spPr>
          <a:xfrm>
            <a:off x="316800" y="4681475"/>
            <a:ext cx="402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Lous, R. S. (2011, July).</a:t>
            </a:r>
            <a:r>
              <a:rPr i="1"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Ferroelectric memory devices how to store the information of the future? </a:t>
            </a:r>
            <a:r>
              <a:rPr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https://www.rug.nl/research/zernike/education/topmasternanoscience/ns190lous.pdf</a:t>
            </a:r>
            <a:endParaRPr sz="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5" name="Google Shape;525;p55"/>
          <p:cNvSpPr txBox="1"/>
          <p:nvPr/>
        </p:nvSpPr>
        <p:spPr>
          <a:xfrm>
            <a:off x="4723450" y="4681475"/>
            <a:ext cx="413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Kang et al., </a:t>
            </a:r>
            <a:r>
              <a:rPr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Nanoscale Advances. (2026).</a:t>
            </a:r>
            <a:r>
              <a:rPr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i="1"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Recent progress in HfO₂-based ferroelectric devices with oxide semiconductor channels, </a:t>
            </a:r>
            <a:endParaRPr i="1" sz="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26" name="Google Shape;526;p55"/>
          <p:cNvCxnSpPr>
            <a:endCxn id="524" idx="0"/>
          </p:cNvCxnSpPr>
          <p:nvPr/>
        </p:nvCxnSpPr>
        <p:spPr>
          <a:xfrm flipH="1">
            <a:off x="2329800" y="3123575"/>
            <a:ext cx="21600" cy="155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55"/>
          <p:cNvCxnSpPr/>
          <p:nvPr/>
        </p:nvCxnSpPr>
        <p:spPr>
          <a:xfrm>
            <a:off x="2352100" y="3127375"/>
            <a:ext cx="2058600" cy="15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